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5AA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DCE6F0"/>
                </a:solidFill>
                <a:latin typeface="Segoe UI"/>
              </a:rPr>
              <a:t>MRC SRv6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AD0FF"/>
                </a:solidFill>
                <a:latin typeface="Segoe UI"/>
              </a:rPr>
              <a:t>Computing uSID Carriers by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2412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8A9CAE"/>
                </a:solidFill>
                <a:latin typeface="Segoe UI"/>
              </a:rPr>
              <a:t>How every GPU reaches every GPU — without storing an all-to-all table.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8A9CAE"/>
                </a:solidFill>
                <a:latin typeface="Segoe UI"/>
              </a:rPr>
              <a:t>Reachability, multipath spray, and maintenance drain, all from one closed-form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0A830"/>
                </a:solidFill>
                <a:latin typeface="Segoe UI"/>
              </a:rPr>
              <a:t>● </a:t>
            </a:r>
            <a:r>
              <a:rPr sz="1300" b="0">
                <a:solidFill>
                  <a:srgbClr val="8A9CAE"/>
                </a:solidFill>
                <a:latin typeface="Segoe UI"/>
              </a:rPr>
              <a:t>spine   </a:t>
            </a:r>
            <a:r>
              <a:rPr sz="1300" b="0">
                <a:solidFill>
                  <a:srgbClr val="3EC89A"/>
                </a:solidFill>
                <a:latin typeface="Segoe UI"/>
              </a:rPr>
              <a:t>● </a:t>
            </a:r>
            <a:r>
              <a:rPr sz="1300" b="0">
                <a:solidFill>
                  <a:srgbClr val="8A9CAE"/>
                </a:solidFill>
                <a:latin typeface="Segoe UI"/>
              </a:rPr>
              <a:t>leaf   </a:t>
            </a:r>
            <a:r>
              <a:rPr sz="1300" b="0">
                <a:solidFill>
                  <a:srgbClr val="5AA0F0"/>
                </a:solidFill>
                <a:latin typeface="Segoe UI"/>
              </a:rPr>
              <a:t>● </a:t>
            </a:r>
            <a:r>
              <a:rPr sz="1300" b="0">
                <a:solidFill>
                  <a:srgbClr val="8A9CAE"/>
                </a:solidFill>
                <a:latin typeface="Segoe UI"/>
              </a:rPr>
              <a:t>GPU   </a:t>
            </a:r>
            <a:r>
              <a:rPr sz="1300" b="0">
                <a:solidFill>
                  <a:srgbClr val="8A9CAE"/>
                </a:solidFill>
                <a:latin typeface="Segoe UI"/>
              </a:rPr>
              <a:t>SRv6 uSID (NEXT-C-SID / F3216) source routing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F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06B6B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An all-to-all carrier table doesn't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CE6F0"/>
                </a:solidFill>
                <a:latin typeface="Segoe UI"/>
              </a:rPr>
              <a:t>The fabric could store one uSID carrier per source×destination×plane×spine.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CE6F0"/>
                </a:solidFill>
                <a:latin typeface="Segoe UI"/>
              </a:rPr>
              <a:t>That set grows quadratically with the GPU count: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120640" cy="100584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F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F06B6B"/>
                </a:solidFill>
                <a:latin typeface="Consolas"/>
              </a:rPr>
              <a:t>carriers  ≈  GPUs²  ·  planes  ·  spines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14600"/>
            <a:ext cx="5394960" cy="475488"/>
          </a:xfrm>
          <a:prstGeom prst="roundRect">
            <a:avLst/>
          </a:prstGeom>
          <a:solidFill>
            <a:srgbClr val="182634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569464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DCE6F0"/>
                </a:solidFill>
                <a:latin typeface="Consolas"/>
              </a:rPr>
              <a:t>GPUs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569464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DCE6F0"/>
                </a:solidFill>
                <a:latin typeface="Consolas"/>
              </a:rPr>
              <a:t>carrier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569464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DCE6F0"/>
                </a:solidFill>
                <a:latin typeface="Consolas"/>
              </a:rPr>
              <a:t>config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90088"/>
            <a:ext cx="5394960" cy="47548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044952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A9CAE"/>
                </a:solidFill>
                <a:latin typeface="Consolas"/>
              </a:rPr>
              <a:t>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04495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A9CAE"/>
                </a:solidFill>
                <a:latin typeface="Consolas"/>
              </a:rPr>
              <a:t>409,088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044952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A9CAE"/>
                </a:solidFill>
                <a:latin typeface="Consolas"/>
              </a:rPr>
              <a:t>237 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465576"/>
            <a:ext cx="5394960" cy="47548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52044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A9CAE"/>
                </a:solidFill>
                <a:latin typeface="Consolas"/>
              </a:rPr>
              <a:t>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5204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A9CAE"/>
                </a:solidFill>
                <a:latin typeface="Consolas"/>
              </a:rPr>
              <a:t>63 million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52044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A9CAE"/>
                </a:solidFill>
                <a:latin typeface="Consolas"/>
              </a:rPr>
              <a:t>~38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41064"/>
            <a:ext cx="5394960" cy="47548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995928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06B6B"/>
                </a:solidFill>
                <a:latin typeface="Consolas"/>
              </a:rPr>
              <a:t>10,000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99592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06B6B"/>
                </a:solidFill>
                <a:latin typeface="Consolas"/>
              </a:rPr>
              <a:t>12.9 billion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995928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06B6B"/>
                </a:solidFill>
                <a:latin typeface="Consolas"/>
              </a:rPr>
              <a:t>~7.8 TB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8A9CAE"/>
                </a:solidFill>
                <a:latin typeface="Segoe UI"/>
              </a:rPr>
              <a:t>Verified on real builds: 2× GPUs → ~4× bytes, 2× spines → ~2× bytes. Every byte is the enumerated mesh — the switch configs stay a few MB.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5AD0FF"/>
                </a:solidFill>
                <a:latin typeface="Segoe UI"/>
              </a:rPr>
              <a:t>→  A production NIC must not hold this. The way out: don't store it — compute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5A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AD0FF"/>
                </a:solidFill>
                <a:latin typeface="Segoe UI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Every address is position-encoded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CE6F0"/>
                </a:solidFill>
                <a:latin typeface="Segoe UI"/>
              </a:rPr>
              <a:t>Nothing about a carrier is arbitrary. Each field is a role, a plane, or an index —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CE6F0"/>
                </a:solidFill>
                <a:latin typeface="Segoe UI"/>
              </a:rPr>
              <a:t>so the 128-bit carrier to any destination is DERIVABLE from a few integers.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5074920" cy="283464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06B6B"/>
                </a:solidFill>
                <a:latin typeface="Segoe UI"/>
              </a:rPr>
              <a:t>STORE  (old)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461772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A9CAE"/>
                </a:solidFill>
                <a:latin typeface="Segoe UI"/>
              </a:rPr>
              <a:t>one JSON record per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A9CAE"/>
                </a:solidFill>
                <a:latin typeface="Segoe UI"/>
              </a:rPr>
              <a:t>(src, dst, plane, spine)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A9CAE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A9CAE"/>
                </a:solidFill>
                <a:latin typeface="Segoe UI"/>
              </a:rPr>
              <a:t>→ O(GPUs²·planes·spines)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A9CAE"/>
                </a:solidFill>
                <a:latin typeface="Segoe UI"/>
              </a:rPr>
              <a:t>→ terabytes on disk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A9CAE"/>
                </a:solidFill>
                <a:latin typeface="Segoe UI"/>
              </a:rPr>
              <a:t>→ NIC holds a giant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06040"/>
            <a:ext cx="5349240" cy="283464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5AD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E0A0"/>
                </a:solidFill>
                <a:latin typeface="Segoe UI"/>
              </a:rPr>
              <a:t>COMPUTE  (new)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93776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one formula + the fabric shape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(leaves, spines, planes, K)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→ O(1) on disk (~700 bytes)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→ NIC derives any carrier on demand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→ a couple of bit-shifts per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1500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5AD0FF"/>
                </a:solidFill>
                <a:latin typeface="Segoe UI"/>
              </a:rPr>
              <a:t>The position-encoded uSID scheme was designed for exactly this.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5A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AD0FF"/>
                </a:solidFill>
                <a:latin typeface="Segoe UI"/>
              </a:rPr>
              <a:t>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What the bits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DCE6F0"/>
                </a:solidFill>
                <a:latin typeface="Segoe UI"/>
              </a:rPr>
              <a:t>Two building blocks encode the whole fabric: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0881360" cy="137160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0A830"/>
                </a:solidFill>
                <a:latin typeface="Segoe UI"/>
              </a:rPr>
              <a:t>Switch locator  —  RPII hextet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AD0FF"/>
                </a:solidFill>
                <a:latin typeface="Consolas"/>
              </a:rPr>
              <a:t>RPII</a:t>
            </a:r>
            <a:r>
              <a:rPr sz="1700" b="0">
                <a:solidFill>
                  <a:srgbClr val="DCE6F0"/>
                </a:solidFill>
                <a:latin typeface="Consolas"/>
              </a:rPr>
              <a:t>  =  role</a:t>
            </a:r>
            <a:r>
              <a:rPr sz="1700" b="0">
                <a:solidFill>
                  <a:srgbClr val="8A9CAE"/>
                </a:solidFill>
                <a:latin typeface="Consolas"/>
              </a:rPr>
              <a:t> · 0x1000</a:t>
            </a:r>
            <a:r>
              <a:rPr sz="1700" b="0">
                <a:solidFill>
                  <a:srgbClr val="DCE6F0"/>
                </a:solidFill>
                <a:latin typeface="Consolas"/>
              </a:rPr>
              <a:t>   +   plane</a:t>
            </a:r>
            <a:r>
              <a:rPr sz="1700" b="0">
                <a:solidFill>
                  <a:srgbClr val="8A9CAE"/>
                </a:solidFill>
                <a:latin typeface="Consolas"/>
              </a:rPr>
              <a:t> · 0x100</a:t>
            </a:r>
            <a:r>
              <a:rPr sz="1700" b="0">
                <a:solidFill>
                  <a:srgbClr val="DCE6F0"/>
                </a:solidFill>
                <a:latin typeface="Consolas"/>
              </a:rPr>
              <a:t>   +  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8A9CAE"/>
                </a:solidFill>
                <a:latin typeface="Consolas"/>
              </a:rPr>
              <a:t>role: spine = 1,  leaf = 2      </a:t>
            </a:r>
            <a:r>
              <a:rPr sz="1400" b="1">
                <a:solidFill>
                  <a:srgbClr val="F0A830"/>
                </a:solidFill>
                <a:latin typeface="Consolas"/>
              </a:rPr>
              <a:t>e.g.  spine 1 in plane 1  →  0x1101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137160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5AA0F0"/>
                </a:solidFill>
                <a:latin typeface="Segoe UI"/>
              </a:rPr>
              <a:t>GPU decap uSID  —  9LLL : GGGG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5AD0FF"/>
                </a:solidFill>
                <a:latin typeface="Consolas"/>
              </a:rPr>
              <a:t>9LLL</a:t>
            </a:r>
            <a:r>
              <a:rPr sz="1600" b="0">
                <a:solidFill>
                  <a:srgbClr val="DCE6F0"/>
                </a:solidFill>
                <a:latin typeface="Consolas"/>
              </a:rPr>
              <a:t>  =  0x9000 + home-leaf index</a:t>
            </a:r>
            <a:r>
              <a:rPr sz="1600" b="1">
                <a:solidFill>
                  <a:srgbClr val="5AD0FF"/>
                </a:solidFill>
                <a:latin typeface="Consolas"/>
              </a:rPr>
              <a:t>        GGGG</a:t>
            </a:r>
            <a:r>
              <a:rPr sz="1600" b="0">
                <a:solidFill>
                  <a:srgbClr val="DCE6F0"/>
                </a:solidFill>
                <a:latin typeface="Consolas"/>
              </a:rPr>
              <a:t>  =  GPU's local index on that 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8A9CAE"/>
                </a:solidFill>
                <a:latin typeface="Consolas"/>
              </a:rPr>
              <a:t>gpu on leaf 2, local slot 2   →   </a:t>
            </a:r>
            <a:r>
              <a:rPr sz="1400" b="1">
                <a:solidFill>
                  <a:srgbClr val="5AA0F0"/>
                </a:solidFill>
                <a:latin typeface="Consolas"/>
              </a:rPr>
              <a:t>9002 : 0002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8A9CAE"/>
                </a:solidFill>
                <a:latin typeface="Segoe UI"/>
              </a:rPr>
              <a:t>Read any address and you can decode role, plane, and index straight out of it — and vice-versa, build the address from those numbers.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5A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AD0FF"/>
                </a:solidFill>
                <a:latin typeface="Segoe UI"/>
              </a:rPr>
              <a:t>THE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One rule builds the carrier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123444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5AD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5AD0FF"/>
                </a:solidFill>
                <a:latin typeface="Consolas"/>
              </a:rPr>
              <a:t>carrier  =  block : &lt;spine RPII&gt; : e000+leaf : 9LLL : GGGG : 0 :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8A9CAE"/>
                </a:solidFill>
                <a:latin typeface="Consolas"/>
              </a:rPr>
              <a:t>block = fcbb:bb00 (32-bit)   ·   e000+leaf = spine's End.X toward the dst leaf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DCE6F0"/>
                </a:solidFill>
                <a:latin typeface="Segoe UI"/>
              </a:rPr>
              <a:t>Worked example  —  gpu1 → gpu4, via spine 1, plane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1965960" cy="1051560"/>
          </a:xfrm>
          <a:prstGeom prst="roundRect">
            <a:avLst/>
          </a:prstGeom>
          <a:solidFill>
            <a:srgbClr val="182634"/>
          </a:solidFill>
          <a:ln w="19050">
            <a:solidFill>
              <a:srgbClr val="F0A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965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0A830"/>
                </a:solidFill>
                <a:latin typeface="Consolas"/>
              </a:rPr>
              <a:t>fcbb:bb00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24528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CAE"/>
                </a:solidFill>
                <a:latin typeface="Segoe UI"/>
              </a:rPr>
              <a:t>block (F3216)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3611880"/>
            <a:ext cx="1417320" cy="1051560"/>
          </a:xfrm>
          <a:prstGeom prst="roundRect">
            <a:avLst/>
          </a:prstGeom>
          <a:solidFill>
            <a:srgbClr val="182634"/>
          </a:solidFill>
          <a:ln w="19050">
            <a:solidFill>
              <a:srgbClr val="F0A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3749039"/>
            <a:ext cx="1417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0A830"/>
                </a:solidFill>
                <a:latin typeface="Consolas"/>
              </a:rPr>
              <a:t>1101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4224528"/>
            <a:ext cx="1325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CAE"/>
                </a:solidFill>
                <a:latin typeface="Segoe UI"/>
              </a:rPr>
              <a:t>spine1 · plane1  (RPII)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3611880"/>
            <a:ext cx="1417320" cy="1051560"/>
          </a:xfrm>
          <a:prstGeom prst="roundRect">
            <a:avLst/>
          </a:prstGeom>
          <a:solidFill>
            <a:srgbClr val="182634"/>
          </a:solidFill>
          <a:ln w="19050">
            <a:solidFill>
              <a:srgbClr val="3EC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3749039"/>
            <a:ext cx="1417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3EC89A"/>
                </a:solidFill>
                <a:latin typeface="Consolas"/>
              </a:rPr>
              <a:t>e002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4224528"/>
            <a:ext cx="1325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CAE"/>
                </a:solidFill>
                <a:latin typeface="Segoe UI"/>
              </a:rPr>
              <a:t>End.X → leaf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34456" y="3611880"/>
            <a:ext cx="1417320" cy="1051560"/>
          </a:xfrm>
          <a:prstGeom prst="roundRect">
            <a:avLst/>
          </a:prstGeom>
          <a:solidFill>
            <a:srgbClr val="182634"/>
          </a:solidFill>
          <a:ln w="19050">
            <a:solidFill>
              <a:srgbClr val="5AA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3749039"/>
            <a:ext cx="1417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5AA0F0"/>
                </a:solidFill>
                <a:latin typeface="Consolas"/>
              </a:rPr>
              <a:t>9002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4224528"/>
            <a:ext cx="1325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CAE"/>
                </a:solidFill>
                <a:latin typeface="Segoe UI"/>
              </a:rPr>
              <a:t>GPU block + leaf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6368" y="3611880"/>
            <a:ext cx="1417320" cy="1051560"/>
          </a:xfrm>
          <a:prstGeom prst="roundRect">
            <a:avLst/>
          </a:prstGeom>
          <a:solidFill>
            <a:srgbClr val="182634"/>
          </a:solidFill>
          <a:ln w="19050">
            <a:solidFill>
              <a:srgbClr val="5AA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8" y="3749039"/>
            <a:ext cx="1417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5AA0F0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4224528"/>
            <a:ext cx="1325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CAE"/>
                </a:solidFill>
                <a:latin typeface="Segoe UI"/>
              </a:rPr>
              <a:t>gpu4 local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6BE0A0"/>
                </a:solidFill>
                <a:latin typeface="Consolas"/>
              </a:rPr>
              <a:t>→   fcbb:bb00:1101:e002:9002:2::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8A9CAE"/>
                </a:solidFill>
                <a:latin typeface="Segoe UI"/>
              </a:rPr>
              <a:t>The dst GPU's index and one chosen spine are all you need. The NIC assembles the 128-bit carrier with a few shifts — no lookup, no stored entry.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5AA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AA0F0"/>
                </a:solidFill>
                <a:latin typeface="Segoe UI"/>
              </a:rPr>
              <a:t>REACHABILITY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Any GPU reaches any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DCE6F0"/>
                </a:solidFill>
                <a:latin typeface="Segoe UI"/>
              </a:rPr>
              <a:t>To reach a destination, the source computes the carrier and hands the packet to the fabric. The core does plain IPv6 longest-prefix forwarding — it stays dumb.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514600"/>
            <a:ext cx="1463040" cy="548640"/>
          </a:xfrm>
          <a:prstGeom prst="roundRect">
            <a:avLst/>
          </a:prstGeom>
          <a:solidFill>
            <a:srgbClr val="182634"/>
          </a:solidFill>
          <a:ln w="22225">
            <a:solidFill>
              <a:srgbClr val="F0A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0A830"/>
                </a:solidFill>
                <a:latin typeface="Segoe UI"/>
              </a:rPr>
              <a:t>spine1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514600"/>
            <a:ext cx="1463040" cy="548640"/>
          </a:xfrm>
          <a:prstGeom prst="roundRect">
            <a:avLst/>
          </a:prstGeom>
          <a:solidFill>
            <a:srgbClr val="182634"/>
          </a:solidFill>
          <a:ln w="22225">
            <a:solidFill>
              <a:srgbClr val="F0A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0A830"/>
                </a:solidFill>
                <a:latin typeface="Segoe UI"/>
              </a:rPr>
              <a:t>spine2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3657600"/>
            <a:ext cx="1463040" cy="548640"/>
          </a:xfrm>
          <a:prstGeom prst="roundRect">
            <a:avLst/>
          </a:prstGeom>
          <a:solidFill>
            <a:srgbClr val="182634"/>
          </a:solidFill>
          <a:ln w="22225">
            <a:solidFill>
              <a:srgbClr val="3EC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EC89A"/>
                </a:solidFill>
                <a:latin typeface="Segoe UI"/>
              </a:rPr>
              <a:t>leaf1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657600"/>
            <a:ext cx="1463040" cy="548640"/>
          </a:xfrm>
          <a:prstGeom prst="roundRect">
            <a:avLst/>
          </a:prstGeom>
          <a:solidFill>
            <a:srgbClr val="182634"/>
          </a:solidFill>
          <a:ln w="22225">
            <a:solidFill>
              <a:srgbClr val="3EC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EC89A"/>
                </a:solidFill>
                <a:latin typeface="Segoe UI"/>
              </a:rPr>
              <a:t>leaf2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892040"/>
            <a:ext cx="1234440" cy="548640"/>
          </a:xfrm>
          <a:prstGeom prst="roundRect">
            <a:avLst/>
          </a:prstGeom>
          <a:solidFill>
            <a:srgbClr val="182634"/>
          </a:solidFill>
          <a:ln w="22225">
            <a:solidFill>
              <a:srgbClr val="5AA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AA0F0"/>
                </a:solidFill>
                <a:latin typeface="Segoe UI"/>
              </a:rPr>
              <a:t>gpu1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892040"/>
            <a:ext cx="1234440" cy="548640"/>
          </a:xfrm>
          <a:prstGeom prst="roundRect">
            <a:avLst/>
          </a:prstGeom>
          <a:solidFill>
            <a:srgbClr val="182634"/>
          </a:solidFill>
          <a:ln w="22225">
            <a:solidFill>
              <a:srgbClr val="5AA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AA0F0"/>
                </a:solidFill>
                <a:latin typeface="Segoe UI"/>
              </a:rPr>
              <a:t>gpu2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892040"/>
            <a:ext cx="1234440" cy="548640"/>
          </a:xfrm>
          <a:prstGeom prst="roundRect">
            <a:avLst/>
          </a:prstGeom>
          <a:solidFill>
            <a:srgbClr val="182634"/>
          </a:solidFill>
          <a:ln w="22225">
            <a:solidFill>
              <a:srgbClr val="5AA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AA0F0"/>
                </a:solidFill>
                <a:latin typeface="Segoe UI"/>
              </a:rPr>
              <a:t>gpu3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4892040"/>
            <a:ext cx="1234440" cy="548640"/>
          </a:xfrm>
          <a:prstGeom prst="roundRect">
            <a:avLst/>
          </a:prstGeom>
          <a:solidFill>
            <a:srgbClr val="182634"/>
          </a:solidFill>
          <a:ln w="22225">
            <a:solidFill>
              <a:srgbClr val="5AA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AA0F0"/>
                </a:solidFill>
                <a:latin typeface="Segoe UI"/>
              </a:rPr>
              <a:t>gpu4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3063240"/>
            <a:ext cx="1463040" cy="594360"/>
          </a:xfrm>
          <a:prstGeom prst="bentConnector3">
            <a:avLst/>
          </a:prstGeom>
          <a:ln w="12700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108960" y="3063240"/>
            <a:ext cx="5120640" cy="594360"/>
          </a:xfrm>
          <a:prstGeom prst="bentConnector3">
            <a:avLst/>
          </a:prstGeom>
          <a:ln w="12700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572000" y="3063240"/>
            <a:ext cx="4389120" cy="594360"/>
          </a:xfrm>
          <a:prstGeom prst="bentConnector3">
            <a:avLst/>
          </a:prstGeom>
          <a:ln w="12700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8229600" y="3063240"/>
            <a:ext cx="731520" cy="594360"/>
          </a:xfrm>
          <a:prstGeom prst="bentConnector3">
            <a:avLst/>
          </a:prstGeom>
          <a:ln w="12700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84248" y="4206240"/>
            <a:ext cx="1124712" cy="685800"/>
          </a:xfrm>
          <a:prstGeom prst="bentConnector3">
            <a:avLst/>
          </a:prstGeom>
          <a:ln w="15875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108960" y="4206240"/>
            <a:ext cx="886968" cy="685800"/>
          </a:xfrm>
          <a:prstGeom prst="bentConnector3">
            <a:avLst/>
          </a:prstGeom>
          <a:ln w="15875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836408" y="4206240"/>
            <a:ext cx="1124712" cy="685800"/>
          </a:xfrm>
          <a:prstGeom prst="bentConnector3">
            <a:avLst/>
          </a:prstGeom>
          <a:ln w="15875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961120" y="4206240"/>
            <a:ext cx="886968" cy="685800"/>
          </a:xfrm>
          <a:prstGeom prst="bentConnector3">
            <a:avLst/>
          </a:prstGeom>
          <a:ln w="15875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984248" y="4206240"/>
            <a:ext cx="1124712" cy="685800"/>
          </a:xfrm>
          <a:prstGeom prst="bentConnector3">
            <a:avLst/>
          </a:prstGeom>
          <a:ln w="34925">
            <a:solidFill>
              <a:srgbClr val="5AD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108960" y="3063240"/>
            <a:ext cx="1463040" cy="594360"/>
          </a:xfrm>
          <a:prstGeom prst="bentConnector3">
            <a:avLst/>
          </a:prstGeom>
          <a:ln w="34925">
            <a:solidFill>
              <a:srgbClr val="5AD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3063240"/>
            <a:ext cx="4389120" cy="594360"/>
          </a:xfrm>
          <a:prstGeom prst="bentConnector3">
            <a:avLst/>
          </a:prstGeom>
          <a:ln w="34925">
            <a:solidFill>
              <a:srgbClr val="5AD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61120" y="4206240"/>
            <a:ext cx="886968" cy="685800"/>
          </a:xfrm>
          <a:prstGeom prst="bentConnector3">
            <a:avLst/>
          </a:prstGeom>
          <a:ln w="34925">
            <a:solidFill>
              <a:srgbClr val="5AD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06240" y="5806440"/>
            <a:ext cx="6400800" cy="685800"/>
          </a:xfrm>
          <a:prstGeom prst="roundRect">
            <a:avLst/>
          </a:prstGeom>
          <a:solidFill>
            <a:srgbClr val="121C28"/>
          </a:solidFill>
          <a:ln w="15875">
            <a:solidFill>
              <a:srgbClr val="5AD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5943600"/>
            <a:ext cx="6217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5AD0FF"/>
                </a:solidFill>
                <a:latin typeface="Consolas"/>
              </a:rPr>
              <a:t>gpu1 → gpu4   carrier  fcbb:bb00:1101:e002:9002:2::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06440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8A9CAE"/>
                </a:solidFill>
                <a:latin typeface="Segoe UI"/>
              </a:rPr>
              <a:t>computed,</a:t>
            </a:r>
          </a:p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8A9CAE"/>
                </a:solidFill>
                <a:latin typeface="Segoe UI"/>
              </a:rPr>
              <a:t>not stored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5A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AD0FF"/>
                </a:solidFill>
                <a:latin typeface="Segoe UI"/>
              </a:rPr>
              <a:t>TWO PATH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Same-leaf and cross-leaf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257800" cy="411480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3EC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3EC89A"/>
                </a:solidFill>
                <a:latin typeface="Segoe UI"/>
              </a:rPr>
              <a:t>SAME-LEAF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84632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CE6F0"/>
                </a:solidFill>
                <a:latin typeface="Segoe UI"/>
              </a:rPr>
              <a:t>Peer on the same leaf — no spine hop.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CE6F0"/>
                </a:solidFill>
                <a:latin typeface="Segoe UI"/>
              </a:rPr>
              <a:t>The carrier names the destination's decap uSID directly; the leaf plain-forwards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429000"/>
            <a:ext cx="4800600" cy="685800"/>
          </a:xfrm>
          <a:prstGeom prst="roundRect">
            <a:avLst/>
          </a:prstGeom>
          <a:solidFill>
            <a:srgbClr val="182634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8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5AA0F0"/>
                </a:solidFill>
                <a:latin typeface="Consolas"/>
              </a:rPr>
              <a:t>block : 9LLL : GGGG ::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8A9CAE"/>
                </a:solidFill>
                <a:latin typeface="Segoe UI"/>
              </a:rPr>
              <a:t>1 path per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A9CAE"/>
                </a:solidFill>
                <a:latin typeface="Consolas"/>
              </a:rPr>
              <a:t>e.g.  gpu1 → gpu2   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5AA0F0"/>
                </a:solidFill>
                <a:latin typeface="Consolas"/>
              </a:rPr>
              <a:t>fcbb:bb00:9001:2::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257800" cy="411480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F0A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0A830"/>
                </a:solidFill>
                <a:latin typeface="Segoe UI"/>
              </a:rPr>
              <a:t>CROSS-LEAF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84632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CE6F0"/>
                </a:solidFill>
                <a:latin typeface="Segoe UI"/>
              </a:rPr>
              <a:t>Peer on another leaf — transits a spine.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CE6F0"/>
                </a:solidFill>
                <a:latin typeface="Segoe UI"/>
              </a:rPr>
              <a:t>The carrier names the spine's End.X plus the destination's decap uSID.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429000"/>
            <a:ext cx="4800600" cy="685800"/>
          </a:xfrm>
          <a:prstGeom prst="roundRect">
            <a:avLst/>
          </a:prstGeom>
          <a:solidFill>
            <a:srgbClr val="182634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11880"/>
            <a:ext cx="46177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0A830"/>
                </a:solidFill>
                <a:latin typeface="Consolas"/>
              </a:rPr>
              <a:t>block : spine : e000+leaf : 9LLL:GGGG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8A9CAE"/>
                </a:solidFill>
                <a:latin typeface="Segoe UI"/>
              </a:rPr>
              <a:t>one path PER SPINE, per plane  →  multipath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0916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9CAE"/>
                </a:solidFill>
                <a:latin typeface="Consolas"/>
              </a:rPr>
              <a:t>e.g.  gpu1 → gpu4 via spine1   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F0A830"/>
                </a:solidFill>
                <a:latin typeface="Consolas"/>
              </a:rPr>
              <a:t>fcbb:bb00:1101:e002:9002:2::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0A830"/>
                </a:solidFill>
                <a:latin typeface="Segoe UI"/>
              </a:rPr>
              <a:t>MULTIPATH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Planes × spines = the spray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DCE6F0"/>
                </a:solidFill>
                <a:latin typeface="Segoe UI"/>
              </a:rPr>
              <a:t>For a cross-leaf peer, the NIC generates one carrier per (plane, spine) — a set of physically-distinct paths it sprays traffic across for bandwidth and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881360" cy="74980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42616"/>
            <a:ext cx="1463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AD0FF"/>
                </a:solidFill>
                <a:latin typeface="Consolas"/>
              </a:rPr>
              <a:t>EV 49007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42616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9CAE"/>
                </a:solidFill>
                <a:latin typeface="Segoe UI"/>
              </a:rPr>
              <a:t>plane1 · spine1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642616"/>
            <a:ext cx="6492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DCE6F0"/>
                </a:solidFill>
                <a:latin typeface="Consolas"/>
              </a:rPr>
              <a:t>fcbb:bb00:1101:e002:9002:2::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18688"/>
            <a:ext cx="10881360" cy="74980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92424"/>
            <a:ext cx="1463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AD0FF"/>
                </a:solidFill>
                <a:latin typeface="Consolas"/>
              </a:rPr>
              <a:t>EV 49008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392424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9CAE"/>
                </a:solidFill>
                <a:latin typeface="Segoe UI"/>
              </a:rPr>
              <a:t>plane1 · spine2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392424"/>
            <a:ext cx="6492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DCE6F0"/>
                </a:solidFill>
                <a:latin typeface="Consolas"/>
              </a:rPr>
              <a:t>fcbb:bb00:1102:e002:9002:2::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68496"/>
            <a:ext cx="10881360" cy="74980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42232"/>
            <a:ext cx="1463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AD0FF"/>
                </a:solidFill>
                <a:latin typeface="Consolas"/>
              </a:rPr>
              <a:t>EV 49009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14223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9CAE"/>
                </a:solidFill>
                <a:latin typeface="Segoe UI"/>
              </a:rPr>
              <a:t>plane2 · spine1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142232"/>
            <a:ext cx="6492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DCE6F0"/>
                </a:solidFill>
                <a:latin typeface="Consolas"/>
              </a:rPr>
              <a:t>fcbb:bb00:1201:e002:9002:2::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0881360" cy="74980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463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AD0FF"/>
                </a:solidFill>
                <a:latin typeface="Consolas"/>
              </a:rPr>
              <a:t>EV 49010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89204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9CAE"/>
                </a:solidFill>
                <a:latin typeface="Segoe UI"/>
              </a:rPr>
              <a:t>plane2 · spine2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892040"/>
            <a:ext cx="6492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DCE6F0"/>
                </a:solidFill>
                <a:latin typeface="Consolas"/>
              </a:rPr>
              <a:t>fcbb:bb00:1202:e002:9002:2::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8A9CAE"/>
                </a:solidFill>
                <a:latin typeface="Segoe UI"/>
              </a:rPr>
              <a:t>All four EVs to the same GPU — only the spine RPII changes (1101 / 1102 / 1201 / 1202). Weighted spray + per-path health steer traffic onto the good 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F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06B6B"/>
                </a:solidFill>
                <a:latin typeface="Segoe UI"/>
              </a:rPr>
              <a:t>MAINTENANCE DRAIN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Draining a node or a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DCE6F0"/>
                </a:solidFill>
                <a:latin typeface="Segoe UI"/>
              </a:rPr>
              <a:t>Drain is just set subtraction on the computed EVs. Mark a spine, leaf, or whole plane bypassed → every EV whose path touches it is flagged drained and loses its traffic share. It keeps being probed; nothing is deleted or rebuilt.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6309360" cy="2880360"/>
          </a:xfrm>
          <a:prstGeom prst="roundRect">
            <a:avLst/>
          </a:prstGeom>
          <a:solidFill>
            <a:srgbClr val="121C28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06B6B"/>
                </a:solidFill>
                <a:latin typeface="Segoe UI"/>
              </a:rPr>
              <a:t>drain plane 2   →   NIC reacts in ~2 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502152"/>
            <a:ext cx="5897880" cy="0"/>
          </a:xfrm>
          <a:prstGeom prst="bentConnector3">
            <a:avLst/>
          </a:prstGeom>
          <a:ln w="6350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324612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DCE6F0"/>
                </a:solidFill>
                <a:latin typeface="Consolas"/>
              </a:rPr>
              <a:t>EV 49007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461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A9CAE"/>
                </a:solidFill>
                <a:latin typeface="Consolas"/>
              </a:rPr>
              <a:t>plane1 · spine1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2461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6BE0A0"/>
                </a:solidFill>
                <a:latin typeface="Segoe UI"/>
              </a:rPr>
              <a:t>● active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014215"/>
            <a:ext cx="5897880" cy="0"/>
          </a:xfrm>
          <a:prstGeom prst="bentConnector3">
            <a:avLst/>
          </a:prstGeom>
          <a:ln w="6350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758183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DCE6F0"/>
                </a:solidFill>
                <a:latin typeface="Consolas"/>
              </a:rPr>
              <a:t>EV 49008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758183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A9CAE"/>
                </a:solidFill>
                <a:latin typeface="Consolas"/>
              </a:rPr>
              <a:t>plane1 · spine2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758183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6BE0A0"/>
                </a:solidFill>
                <a:latin typeface="Segoe UI"/>
              </a:rPr>
              <a:t>● active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526280"/>
            <a:ext cx="5897880" cy="0"/>
          </a:xfrm>
          <a:prstGeom prst="bentConnector3">
            <a:avLst/>
          </a:prstGeom>
          <a:ln w="6350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270248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DCE6F0"/>
                </a:solidFill>
                <a:latin typeface="Consolas"/>
              </a:rPr>
              <a:t>EV 49009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27024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A9CAE"/>
                </a:solidFill>
                <a:latin typeface="Consolas"/>
              </a:rPr>
              <a:t>plane2 · spine1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27024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06B6B"/>
                </a:solidFill>
                <a:latin typeface="Segoe UI"/>
              </a:rPr>
              <a:t>● DRAINED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5038344"/>
            <a:ext cx="5897880" cy="0"/>
          </a:xfrm>
          <a:prstGeom prst="bentConnector3">
            <a:avLst/>
          </a:prstGeom>
          <a:ln w="6350">
            <a:solidFill>
              <a:srgbClr val="223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782312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DCE6F0"/>
                </a:solidFill>
                <a:latin typeface="Consolas"/>
              </a:rPr>
              <a:t>EV 49010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78231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A9CAE"/>
                </a:solidFill>
                <a:latin typeface="Consolas"/>
              </a:rPr>
              <a:t>plane2 · spine2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782312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06B6B"/>
                </a:solidFill>
                <a:latin typeface="Segoe UI"/>
              </a:rPr>
              <a:t>● DRAINED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606040"/>
            <a:ext cx="4297680" cy="288036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F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74320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8A9CAE"/>
                </a:solidFill>
                <a:latin typeface="Segoe UI"/>
              </a:rPr>
              <a:t>what the NIC computes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200400"/>
            <a:ext cx="39319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CE6F0"/>
                </a:solidFill>
                <a:latin typeface="Consolas"/>
              </a:rPr>
              <a:t>drained_ids = {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06B6B"/>
                </a:solidFill>
                <a:latin typeface="Consolas"/>
              </a:rPr>
              <a:t>  direct-leaf1-p2,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06B6B"/>
                </a:solidFill>
                <a:latin typeface="Consolas"/>
              </a:rPr>
              <a:t>  spine1-p2,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06B6B"/>
                </a:solidFill>
                <a:latin typeface="Consolas"/>
              </a:rPr>
              <a:t>  spine2-p2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DCE6F0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9CAE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6BE0A0"/>
                </a:solidFill>
                <a:latin typeface="Consolas"/>
              </a:rPr>
              <a:t>→ 5 / 10 paths drained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9CAE"/>
                </a:solidFill>
                <a:latin typeface="Consolas"/>
              </a:rPr>
              <a:t>→ traffic re-sprays onto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9CAE"/>
                </a:solidFill>
                <a:latin typeface="Consolas"/>
              </a:rPr>
              <a:t>   the plane-1 EVs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8A9CAE"/>
                </a:solidFill>
                <a:latin typeface="Segoe UI"/>
              </a:rPr>
              <a:t>The formula makes drain trivial: the plane/spine is simply excluded from the set the NIC (re)builds — verified live, reacts in ~2 seconds, restores just as fast.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5A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AD0FF"/>
                </a:solidFill>
                <a:latin typeface="Segoe UI"/>
              </a:rPr>
              <a:t>WHERE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Every NIC builds its own carriers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DCE6F0"/>
                </a:solidFill>
                <a:latin typeface="Segoe UI"/>
              </a:rPr>
              <a:t>The generator emits a ~700-byte descriptor (block + shape + this GPU's index) instead of the enumerated table. The NIC expands it with the shared formula — in both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257800" cy="310896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3EC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3EC89A"/>
                </a:solidFill>
                <a:latin typeface="Segoe UI"/>
              </a:rPr>
              <a:t>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48463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CE6F0"/>
                </a:solidFill>
                <a:latin typeface="Segoe UI"/>
              </a:rPr>
              <a:t>NIC reads the descriptor from its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CE6F0"/>
                </a:solidFill>
                <a:latin typeface="Segoe UI"/>
              </a:rPr>
              <a:t>profile file and calls mrc_usid.expand()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CE6F0"/>
                </a:solidFill>
                <a:latin typeface="Segoe UI"/>
              </a:rPr>
              <a:t>at load — programs per-EV seg6 encap.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8056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E0A0"/>
                </a:solidFill>
                <a:latin typeface="Consolas"/>
              </a:rPr>
              <a:t>descriptor  →  NIC  →  carriers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514600"/>
            <a:ext cx="5257800" cy="3108960"/>
          </a:xfrm>
          <a:prstGeom prst="roundRect">
            <a:avLst/>
          </a:prstGeom>
          <a:solidFill>
            <a:srgbClr val="121C28"/>
          </a:solidFill>
          <a:ln w="19050">
            <a:solidFill>
              <a:srgbClr val="5AA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5AA0F0"/>
                </a:solidFill>
                <a:latin typeface="Segoe UI"/>
              </a:rPr>
              <a:t>CONTROLLER  (with GUI)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8463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CE6F0"/>
                </a:solidFill>
                <a:latin typeface="Segoe UI"/>
              </a:rPr>
              <a:t>mrc-gui serves the SAME descriptor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CE6F0"/>
                </a:solidFill>
                <a:latin typeface="Segoe UI"/>
              </a:rPr>
              <a:t>over /api/mesh-plan; the NIC expands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CE6F0"/>
                </a:solidFill>
                <a:latin typeface="Segoe UI"/>
              </a:rPr>
              <a:t>its own carriers. Wire stays O(1).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E0A0"/>
                </a:solidFill>
                <a:latin typeface="Consolas"/>
              </a:rPr>
              <a:t>gui → descriptor → NIC → carriers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8A9CAE"/>
                </a:solidFill>
                <a:latin typeface="Segoe UI"/>
              </a:rPr>
              <a:t>One shared formula (mrc_usid.py) — verified byte-for-byte against the enumerated output, and validated live: 10/10 paths up, cross-leaf forwarding, drain all working.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6B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6BE0A0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Terabytes → a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931920" cy="548640"/>
          </a:xfrm>
          <a:prstGeom prst="roundRect">
            <a:avLst/>
          </a:prstGeom>
          <a:solidFill>
            <a:srgbClr val="182634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DCE6F0"/>
                </a:solidFill>
                <a:latin typeface="Segoe U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737360"/>
            <a:ext cx="3566160" cy="548640"/>
          </a:xfrm>
          <a:prstGeom prst="roundRect">
            <a:avLst/>
          </a:prstGeom>
          <a:solidFill>
            <a:srgbClr val="182634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47088"/>
            <a:ext cx="338327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06B6B"/>
                </a:solidFill>
                <a:latin typeface="Segoe UI"/>
              </a:rPr>
              <a:t>Enumerated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383280" cy="548640"/>
          </a:xfrm>
          <a:prstGeom prst="roundRect">
            <a:avLst/>
          </a:prstGeom>
          <a:solidFill>
            <a:srgbClr val="182634"/>
          </a:solidFill>
          <a:ln w="12700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47088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E0A0"/>
                </a:solidFill>
                <a:latin typeface="Segoe UI"/>
              </a:rPr>
              <a:t>Computed descriptor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393192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41448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DCE6F0"/>
                </a:solidFill>
                <a:latin typeface="Segoe UI"/>
              </a:rPr>
              <a:t>10,000-GPU NIC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286000"/>
            <a:ext cx="356616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441448"/>
            <a:ext cx="338327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06B6B"/>
                </a:solidFill>
                <a:latin typeface="Consolas"/>
              </a:rPr>
              <a:t>~7.8 TB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86000"/>
            <a:ext cx="338328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41448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BE0A0"/>
                </a:solidFill>
                <a:latin typeface="Consolas"/>
              </a:rPr>
              <a:t>a few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44368"/>
            <a:ext cx="3931920" cy="65836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99815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DCE6F0"/>
                </a:solidFill>
                <a:latin typeface="Segoe UI"/>
              </a:rPr>
              <a:t>Per-GPU config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944368"/>
            <a:ext cx="3566160" cy="65836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099815"/>
            <a:ext cx="338327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06B6B"/>
                </a:solidFill>
                <a:latin typeface="Consolas"/>
              </a:rPr>
              <a:t>tens of MB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944368"/>
            <a:ext cx="3383280" cy="65836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099815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BE0A0"/>
                </a:solidFill>
                <a:latin typeface="Consolas"/>
              </a:rPr>
              <a:t>~700 bytes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02735"/>
            <a:ext cx="393192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758183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DCE6F0"/>
                </a:solidFill>
                <a:latin typeface="Segoe UI"/>
              </a:rPr>
              <a:t>Controller → NIC wire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602735"/>
            <a:ext cx="356616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758183"/>
            <a:ext cx="338327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06B6B"/>
                </a:solidFill>
                <a:latin typeface="Consolas"/>
              </a:rPr>
              <a:t>O(paths)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02735"/>
            <a:ext cx="338328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758183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BE0A0"/>
                </a:solidFill>
                <a:latin typeface="Consolas"/>
              </a:rPr>
              <a:t>O(1)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61103"/>
            <a:ext cx="3931920" cy="65836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16551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DCE6F0"/>
                </a:solidFill>
                <a:latin typeface="Segoe UI"/>
              </a:rPr>
              <a:t>Reachability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261103"/>
            <a:ext cx="3566160" cy="65836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416551"/>
            <a:ext cx="338327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06B6B"/>
                </a:solidFill>
                <a:latin typeface="Consolas"/>
              </a:rPr>
              <a:t>every pair (stored)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261103"/>
            <a:ext cx="3383280" cy="658368"/>
          </a:xfrm>
          <a:prstGeom prst="roundRect">
            <a:avLst/>
          </a:prstGeom>
          <a:solidFill>
            <a:srgbClr val="0B1016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416551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BE0A0"/>
                </a:solidFill>
                <a:latin typeface="Consolas"/>
              </a:rPr>
              <a:t>every pair (computed)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919471"/>
            <a:ext cx="393192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074919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DCE6F0"/>
                </a:solidFill>
                <a:latin typeface="Segoe UI"/>
              </a:rPr>
              <a:t>Drain / planes / spines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4919471"/>
            <a:ext cx="356616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5074919"/>
            <a:ext cx="338327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06B6B"/>
                </a:solidFill>
                <a:latin typeface="Consolas"/>
              </a:rPr>
              <a:t>works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919471"/>
            <a:ext cx="3383280" cy="658368"/>
          </a:xfrm>
          <a:prstGeom prst="roundRect">
            <a:avLst/>
          </a:prstGeom>
          <a:solidFill>
            <a:srgbClr val="121C28"/>
          </a:solidFill>
          <a:ln w="9525">
            <a:solidFill>
              <a:srgbClr val="223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50749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BE0A0"/>
                </a:solidFill>
                <a:latin typeface="Consolas"/>
              </a:rPr>
              <a:t>works (set subtraction)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1500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8A9CAE"/>
                </a:solidFill>
                <a:latin typeface="Segoe UI"/>
              </a:rPr>
              <a:t>Switch configs are unchanged (a few MB at any scale). The quadratic was always the enumerated edge state — and now it's a rule the NIC evaluates on demand.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02920" cy="54864"/>
          </a:xfrm>
          <a:prstGeom prst="rect">
            <a:avLst/>
          </a:prstGeom>
          <a:solidFill>
            <a:srgbClr val="5A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5AD0FF"/>
                </a:solidFill>
                <a:latin typeface="Segoe U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DCE6F0"/>
                </a:solidFill>
                <a:latin typeface="Segoe UI"/>
              </a:rPr>
              <a:t>One rule, the whole fabric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18872" cy="749808"/>
          </a:xfrm>
          <a:prstGeom prst="rect">
            <a:avLst/>
          </a:prstGeom>
          <a:solidFill>
            <a:srgbClr val="5A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0233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5AD0FF"/>
                </a:solidFill>
                <a:latin typeface="Segoe UI"/>
              </a:rPr>
              <a:t>Position-encoded uSIDs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83080"/>
            <a:ext cx="65836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role·plane·index and 9LLL:GGGG make every carrier derivable.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18872" cy="749808"/>
          </a:xfrm>
          <a:prstGeom prst="rect">
            <a:avLst/>
          </a:prstGeom>
          <a:solidFill>
            <a:srgbClr val="5AA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40233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5AA0F0"/>
                </a:solidFill>
                <a:latin typeface="Segoe UI"/>
              </a:rPr>
              <a:t>Reachability for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51760"/>
            <a:ext cx="65836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any GPU builds the carrier to any GPU; the core just LPM-forwards.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39"/>
            <a:ext cx="118872" cy="74980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20439"/>
            <a:ext cx="40233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A830"/>
                </a:solidFill>
                <a:latin typeface="Segoe UI"/>
              </a:rPr>
              <a:t>Multipath by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520439"/>
            <a:ext cx="65836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one EV per (plane, spine) — the spray set falls out of the formula.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118872" cy="749808"/>
          </a:xfrm>
          <a:prstGeom prst="rect">
            <a:avLst/>
          </a:prstGeom>
          <a:solidFill>
            <a:srgbClr val="F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89120"/>
            <a:ext cx="40233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6B6B"/>
                </a:solidFill>
                <a:latin typeface="Segoe UI"/>
              </a:rPr>
              <a:t>Drain is set subtraction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389120"/>
            <a:ext cx="65836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exclude a spine/leaf/plane; the NIC re-sprays in ~2 s, nothing rebuilt.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57800"/>
            <a:ext cx="118872" cy="749808"/>
          </a:xfrm>
          <a:prstGeom prst="rect">
            <a:avLst/>
          </a:prstGeom>
          <a:solidFill>
            <a:srgbClr val="6B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257800"/>
            <a:ext cx="40233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6BE0A0"/>
                </a:solidFill>
                <a:latin typeface="Segoe UI"/>
              </a:rPr>
              <a:t>O(1) everywhere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257800"/>
            <a:ext cx="65836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CE6F0"/>
                </a:solidFill>
                <a:latin typeface="Segoe UI"/>
              </a:rPr>
              <a:t>~700-byte descriptor on disk and on the wire; TB of table gone.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MRC SRv6 Fabric · Carriers by 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A9CAE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